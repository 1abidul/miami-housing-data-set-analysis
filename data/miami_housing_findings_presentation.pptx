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B6E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Under
$250K</c:v>
                </c:pt>
                <c:pt idx="1">
                  <c:v>$250K–
$499K</c:v>
                </c:pt>
                <c:pt idx="2">
                  <c:v>$500K–
$999K</c:v>
                </c:pt>
                <c:pt idx="3">
                  <c:v>$1M+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4097</c:v>
                </c:pt>
                <c:pt idx="1">
                  <c:v>7235</c:v>
                </c:pt>
                <c:pt idx="2">
                  <c:v>1864</c:v>
                </c:pt>
                <c:pt idx="3">
                  <c:v>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1E-46F6-806D-5417FD484A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sale price</c:v>
                </c:pt>
              </c:strCache>
            </c:strRef>
          </c:tx>
          <c:spPr>
            <a:solidFill>
              <a:srgbClr val="0B6E99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Living
area</c:v>
                </c:pt>
                <c:pt idx="1">
                  <c:v>Special
features</c:v>
                </c:pt>
                <c:pt idx="2">
                  <c:v>Structure
quality</c:v>
                </c:pt>
                <c:pt idx="3">
                  <c:v>Land
size</c:v>
                </c:pt>
                <c:pt idx="4">
                  <c:v>Highway
distance</c:v>
                </c:pt>
                <c:pt idx="5">
                  <c:v>Age</c:v>
                </c:pt>
                <c:pt idx="6">
                  <c:v>Center
distance</c:v>
                </c:pt>
                <c:pt idx="7">
                  <c:v>Ocean
distance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0.66700000000000004</c:v>
                </c:pt>
                <c:pt idx="1">
                  <c:v>0.497</c:v>
                </c:pt>
                <c:pt idx="2">
                  <c:v>0.38400000000000001</c:v>
                </c:pt>
                <c:pt idx="3">
                  <c:v>0.36299999999999999</c:v>
                </c:pt>
                <c:pt idx="4">
                  <c:v>0.23200000000000001</c:v>
                </c:pt>
                <c:pt idx="5">
                  <c:v>-0.123</c:v>
                </c:pt>
                <c:pt idx="6">
                  <c:v>-0.27100000000000002</c:v>
                </c:pt>
                <c:pt idx="7">
                  <c:v>-0.27500000000000002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C6-4E78-876D-AA080496D0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-0.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sale price</c:v>
                </c:pt>
              </c:strCache>
            </c:strRef>
          </c:tx>
          <c:spPr>
            <a:solidFill>
              <a:srgbClr val="2BB3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Far</c:v>
                </c:pt>
                <c:pt idx="1">
                  <c:v>Medium</c:v>
                </c:pt>
                <c:pt idx="2">
                  <c:v>Near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333517</c:v>
                </c:pt>
                <c:pt idx="1">
                  <c:v>607850</c:v>
                </c:pt>
                <c:pt idx="2">
                  <c:v>988173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6-40C2-B190-863F54EAE5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homes</c:v>
                </c:pt>
              </c:strCache>
            </c:strRef>
          </c:tx>
          <c:spPr>
            <a:solidFill>
              <a:srgbClr val="697A8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0–19</c:v>
                </c:pt>
                <c:pt idx="1">
                  <c:v>20–39</c:v>
                </c:pt>
                <c:pt idx="2">
                  <c:v>40–59</c:v>
                </c:pt>
                <c:pt idx="3">
                  <c:v>60+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441305</c:v>
                </c:pt>
                <c:pt idx="1">
                  <c:v>393192</c:v>
                </c:pt>
                <c:pt idx="2">
                  <c:v>385705</c:v>
                </c:pt>
                <c:pt idx="3">
                  <c:v>327786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85-4D89-BA28-2A25CCAB59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Quality 5 homes</c:v>
                </c:pt>
              </c:strCache>
            </c:strRef>
          </c:tx>
          <c:spPr>
            <a:solidFill>
              <a:srgbClr val="0B6E9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0–19</c:v>
                </c:pt>
                <c:pt idx="1">
                  <c:v>20–39</c:v>
                </c:pt>
                <c:pt idx="2">
                  <c:v>40–59</c:v>
                </c:pt>
                <c:pt idx="3">
                  <c:v>60+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999177</c:v>
                </c:pt>
                <c:pt idx="1">
                  <c:v>656243</c:v>
                </c:pt>
                <c:pt idx="2">
                  <c:v>553842</c:v>
                </c:pt>
                <c:pt idx="3">
                  <c:v>507909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85-4D89-BA28-2A25CCAB59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00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iami_aerial.jpg"/>
          <p:cNvPicPr>
            <a:picLocks noChangeAspect="1"/>
          </p:cNvPicPr>
          <p:nvPr/>
        </p:nvPicPr>
        <p:blipFill>
          <a:blip r:embed="rId3"/>
          <a:srcRect t="5000" r="12002" b="70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41148" y="0"/>
            <a:ext cx="4800600" cy="6858000"/>
          </a:xfrm>
          <a:prstGeom prst="rect">
            <a:avLst/>
          </a:prstGeom>
          <a:solidFill>
            <a:srgbClr val="0B1F33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21792" y="96012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Miami Housing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 Drivers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58368" y="2578608"/>
            <a:ext cx="37947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6F2F6"/>
                </a:solidFill>
              </a:rPr>
              <a:t>Turning workbook findings into real-world pricing, selling, and investment decisions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58368" y="3657600"/>
            <a:ext cx="3291840" cy="0"/>
          </a:xfrm>
          <a:prstGeom prst="line">
            <a:avLst/>
          </a:prstGeom>
          <a:noFill/>
          <a:ln w="38100">
            <a:solidFill>
              <a:srgbClr val="2BB3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3877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7ED"/>
                </a:solidFill>
              </a:rPr>
              <a:t>Dataset: 13,932 Miami property sales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4206240"/>
            <a:ext cx="3657600" cy="1307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7ED"/>
                </a:solidFill>
              </a:rPr>
              <a:t>Key question: what factors explain higher home prices?</a:t>
            </a:r>
          </a:p>
          <a:p>
            <a:pPr marL="0" indent="0">
              <a:buNone/>
            </a:pPr>
            <a:endParaRPr lang="en-US" sz="1250" dirty="0">
              <a:solidFill>
                <a:srgbClr val="D7E7ED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Abidul Hasib, Ryan Farrar,  James Lioy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6 / 23 / 2026</a:t>
            </a:r>
            <a:endParaRPr lang="en-US" sz="1250" dirty="0">
              <a:solidFill>
                <a:srgbClr val="D7E7ED"/>
              </a:solidFill>
            </a:endParaRP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48288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AAA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approach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97A89"/>
                </a:solidFill>
              </a:rPr>
              <a:t>Use the analysis to guide pricing strategy, buyer expectations, and investment screening.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899A"/>
                </a:solidFill>
              </a:rPr>
              <a:t>Source: Miami Housing Analysis workbook, n = 13,932 property sales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48288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AAA"/>
                </a:solidFill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Real-life problem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2461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 lang="en-US" sz="1600" dirty="0">
                <a:solidFill>
                  <a:srgbClr val="1B2733"/>
                </a:solidFill>
              </a:rPr>
              <a:t>A seller, agent, or investor needs to know which property features actually impact the price — not just which listings appear expensive.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24528" y="1600200"/>
            <a:ext cx="0" cy="411480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618488"/>
            <a:ext cx="530352" cy="530352"/>
          </a:xfrm>
          <a:prstGeom prst="ellipse">
            <a:avLst/>
          </a:prstGeom>
          <a:solidFill>
            <a:srgbClr val="0B6E99"/>
          </a:solidFill>
          <a:ln w="12700">
            <a:solidFill>
              <a:srgbClr val="0B6E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82896" y="1728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5727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1. Understand the market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504688" y="19568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97A89"/>
                </a:solidFill>
              </a:rPr>
              <a:t>Distribution, median, spread, outliers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709160" y="2944368"/>
            <a:ext cx="530352" cy="530352"/>
          </a:xfrm>
          <a:prstGeom prst="ellipse">
            <a:avLst/>
          </a:prstGeom>
          <a:solidFill>
            <a:srgbClr val="2BB3C0"/>
          </a:solidFill>
          <a:ln w="12700">
            <a:solidFill>
              <a:srgbClr val="2BB3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82896" y="3054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28986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2. Identify price drivers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504688" y="32826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97A89"/>
                </a:solidFill>
              </a:rPr>
              <a:t>Correlations, scatterplots, trendlines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709160" y="4270248"/>
            <a:ext cx="530352" cy="530352"/>
          </a:xfrm>
          <a:prstGeom prst="ellipse">
            <a:avLst/>
          </a:prstGeom>
          <a:solidFill>
            <a:srgbClr val="F3C77A"/>
          </a:solidFill>
          <a:ln w="12700">
            <a:solidFill>
              <a:srgbClr val="F3C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82896" y="4379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42245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3. Segment the decision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504688" y="46085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97A89"/>
                </a:solidFill>
              </a:rPr>
              <a:t>PivotTables by quality, size, age, and location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5257800"/>
            <a:ext cx="10927080" cy="713232"/>
          </a:xfrm>
          <a:prstGeom prst="rect">
            <a:avLst/>
          </a:prstGeom>
          <a:solidFill>
            <a:srgbClr val="EEF6F8"/>
          </a:solidFill>
          <a:ln w="12700">
            <a:solidFill>
              <a:srgbClr val="C8D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385816"/>
            <a:ext cx="1059789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Decision goal: estimate a fair price range and identify where the biggest value adjustments should come from.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snapshot: price distribution is right-skewed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97A89"/>
                </a:solidFill>
              </a:rPr>
              <a:t>Most sales are clustered under $500K, while luxury outliers pull the average upward.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899A"/>
                </a:solidFill>
              </a:rPr>
              <a:t>Source: Miami Housing Analysis workbook, n = 13,932 property sales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48288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AAA"/>
                </a:solidFill>
              </a:rPr>
              <a:t>03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21792" y="1508760"/>
          <a:ext cx="64008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360920" y="15087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6E99"/>
                </a:solidFill>
              </a:rPr>
              <a:t>$399.9K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36092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Mean sale price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9189720" y="15087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BB3C0"/>
                </a:solidFill>
              </a:rPr>
              <a:t>$310K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918972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Median sale price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736092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5D39"/>
                </a:solidFill>
              </a:rPr>
              <a:t>$2.65M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7360920" y="3063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Highest sale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9189720" y="2606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3C77A"/>
                </a:solidFill>
              </a:rPr>
              <a:t>$193K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9189720" y="3063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IQR: middle 50% spread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406640" y="3813048"/>
            <a:ext cx="342900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0664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What this means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424928" y="4434840"/>
            <a:ext cx="3383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B2733"/>
                </a:solidFill>
              </a:rPr>
              <a:t>Using the average alone would overstate a typical home because the mean is about $90K above the median.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658368" y="5797296"/>
            <a:ext cx="10927080" cy="566928"/>
          </a:xfrm>
          <a:prstGeom prst="rect">
            <a:avLst/>
          </a:prstGeom>
          <a:solidFill>
            <a:srgbClr val="EEF6F8"/>
          </a:solidFill>
          <a:ln w="12700">
            <a:solidFill>
              <a:srgbClr val="C8D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2960" y="5925312"/>
            <a:ext cx="105978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Conclusion: use the median and price bands for “typical market” decisions; treat $1M+ homes as a separate luxury segment.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price drivers: size leads, upgrades also matter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97A89"/>
                </a:solidFill>
              </a:rPr>
              <a:t>Living area is the strongest single relationship with sale price in the workbook.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899A"/>
                </a:solidFill>
              </a:rPr>
              <a:t>Source: Miami Housing Analysis workbook, n = 13,932 property sales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48288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AAA"/>
                </a:solidFill>
              </a:rPr>
              <a:t>04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12648" y="1481328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339328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Key interpretation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66760" y="1938528"/>
            <a:ext cx="30632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r>
              <a:rPr lang="en-US" sz="1420" dirty="0">
                <a:solidFill>
                  <a:srgbClr val="1B2733"/>
                </a:solidFill>
              </a:rPr>
              <a:t>• Living area has the clearest price signal.</a:t>
            </a:r>
            <a:endParaRPr lang="en-US" sz="1420" dirty="0"/>
          </a:p>
          <a:p>
            <a:r>
              <a:rPr lang="en-US" sz="1420" dirty="0">
                <a:solidFill>
                  <a:srgbClr val="1B2733"/>
                </a:solidFill>
              </a:rPr>
              <a:t>• Special features and structure quality add noticeable premiums.</a:t>
            </a:r>
            <a:endParaRPr lang="en-US" sz="1420" dirty="0"/>
          </a:p>
          <a:p>
            <a:r>
              <a:rPr lang="en-US" sz="1420" dirty="0">
                <a:solidFill>
                  <a:srgbClr val="1B2733"/>
                </a:solidFill>
              </a:rPr>
              <a:t>• Age is negative but weak, so newer is not enough by itself.</a:t>
            </a:r>
            <a:endParaRPr lang="en-US" sz="1420" dirty="0"/>
          </a:p>
          <a:p>
            <a:r>
              <a:rPr lang="en-US" sz="1420" dirty="0">
                <a:solidFill>
                  <a:srgbClr val="1B2733"/>
                </a:solidFill>
              </a:rPr>
              <a:t>• Distance effects matter, but mainly through location bands.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8366760" y="3822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6E99"/>
                </a:solidFill>
              </a:rPr>
              <a:t>r = 0.667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366760" y="4279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Living area vs. price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9921240" y="382219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BB3C0"/>
                </a:solidFill>
              </a:rPr>
              <a:t>R² = 44.5%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921240" y="42793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Explained by size alone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8732520" y="49194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5D39"/>
                </a:solidFill>
              </a:rPr>
              <a:t>$260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732520" y="5376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Estimated price per extra sq. ft.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58368" y="5961888"/>
            <a:ext cx="10927080" cy="475488"/>
          </a:xfrm>
          <a:prstGeom prst="rect">
            <a:avLst/>
          </a:prstGeom>
          <a:solidFill>
            <a:srgbClr val="EEF6F8"/>
          </a:solidFill>
          <a:ln w="12700">
            <a:solidFill>
              <a:srgbClr val="C8D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6089904"/>
            <a:ext cx="105978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Conclusion: pricing should start with living area, then adjust for special features, quality, and location rather than relying on one factor.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Location premium: ocean proximity is a major price layer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97A89"/>
                </a:solidFill>
              </a:rPr>
              <a:t>Homes closer to the ocean sell at much higher average prices.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899A"/>
                </a:solidFill>
              </a:rPr>
              <a:t>Source: Miami Housing Analysis workbook, n = 13,932 property sales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48288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AAA"/>
                </a:solidFill>
              </a:rPr>
              <a:t>05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58368" y="1417320"/>
          <a:ext cx="56692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12280" y="1417320"/>
            <a:ext cx="4480560" cy="4343400"/>
          </a:xfrm>
          <a:prstGeom prst="rect">
            <a:avLst/>
          </a:prstGeom>
          <a:solidFill>
            <a:srgbClr val="F7FAFC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086600" y="17373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Location findings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08660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Ocean distance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0" y="2450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5D39"/>
                </a:solidFill>
              </a:rPr>
              <a:t>r = -0.275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086600" y="2834640"/>
            <a:ext cx="356616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86600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Center distance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326880" y="3090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5D39"/>
                </a:solidFill>
              </a:rPr>
              <a:t>r = -0.271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086600" y="3474720"/>
            <a:ext cx="356616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08660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Water distance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326880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97A89"/>
                </a:solidFill>
              </a:rPr>
              <a:t>r = -0.128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086600" y="4343400"/>
            <a:ext cx="3840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B2733"/>
                </a:solidFill>
              </a:rPr>
              <a:t>The relationship is not purely linear. Grouping homes into “near / medium / far” bands makes the premium much clearer for decision-making.</a:t>
            </a:r>
            <a:endParaRPr lang="en-US" sz="1360" dirty="0"/>
          </a:p>
        </p:txBody>
      </p:sp>
      <p:sp>
        <p:nvSpPr>
          <p:cNvPr id="19" name="Shape 16"/>
          <p:cNvSpPr/>
          <p:nvPr/>
        </p:nvSpPr>
        <p:spPr>
          <a:xfrm>
            <a:off x="658368" y="5916168"/>
            <a:ext cx="10927080" cy="530352"/>
          </a:xfrm>
          <a:prstGeom prst="rect">
            <a:avLst/>
          </a:prstGeom>
          <a:solidFill>
            <a:srgbClr val="EEF6F8"/>
          </a:solidFill>
          <a:ln w="12700">
            <a:solidFill>
              <a:srgbClr val="C8D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2960" y="6044184"/>
            <a:ext cx="105978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Conclusion: location should be priced as a banded premium. Near-ocean homes operate in a different market tier than far-ocean homes.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Interactions: high quality can offset age, but size still dominates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97A89"/>
                </a:solidFill>
              </a:rPr>
              <a:t>Multivariate summaries show that price depends on combinations, not one variable alone.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899A"/>
                </a:solidFill>
              </a:rPr>
              <a:t>Source: Miami Housing Analysis workbook, n = 13,932 property sales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48288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AAA"/>
                </a:solidFill>
              </a:rPr>
              <a:t>06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21792" y="1417320"/>
          <a:ext cx="64922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571232" y="148132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Business meaning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589520" y="1911096"/>
            <a:ext cx="3474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B2733"/>
                </a:solidFill>
              </a:rPr>
              <a:t>Quality 5 homes average above the overall market in every age group. Newer quality-5 homes are the most valuable segment, but even older quality-5 homes stay above the market average.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7589520" y="3063240"/>
            <a:ext cx="333756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80960" y="34015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BB3C0"/>
                </a:solidFill>
              </a:rPr>
              <a:t>$690K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680960" y="3858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Large homes average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372600" y="34015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3C77A"/>
                </a:solidFill>
              </a:rPr>
              <a:t>$350K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9372600" y="3858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Medium homes average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8503920" y="44988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97A89"/>
                </a:solidFill>
              </a:rPr>
              <a:t>$232K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8503920" y="4956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97A89"/>
                </a:solidFill>
              </a:rPr>
              <a:t>Small homes average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5916168"/>
            <a:ext cx="10927080" cy="530352"/>
          </a:xfrm>
          <a:prstGeom prst="rect">
            <a:avLst/>
          </a:prstGeom>
          <a:solidFill>
            <a:srgbClr val="EEF6F8"/>
          </a:solidFill>
          <a:ln w="12700">
            <a:solidFill>
              <a:srgbClr val="C8D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6044184"/>
            <a:ext cx="105978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Conclusion: the highest-value strategy is not simply “newer home.” It is large living area + high quality + strong location.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pricing framework from the findings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97A89"/>
                </a:solidFill>
              </a:rPr>
              <a:t>Use the workbook findings as a simple adjustment logic for real pricing decisions.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899A"/>
                </a:solidFill>
              </a:rPr>
              <a:t>Source: Miami Housing Analysis workbook, n = 13,932 property sales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48288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AAA"/>
                </a:solidFill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03120" y="2377440"/>
            <a:ext cx="731520" cy="0"/>
          </a:xfrm>
          <a:prstGeom prst="line">
            <a:avLst/>
          </a:prstGeom>
          <a:noFill/>
          <a:ln w="25400">
            <a:solidFill>
              <a:srgbClr val="B8C5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33672" y="2377440"/>
            <a:ext cx="731520" cy="0"/>
          </a:xfrm>
          <a:prstGeom prst="line">
            <a:avLst/>
          </a:prstGeom>
          <a:noFill/>
          <a:ln w="25400">
            <a:solidFill>
              <a:srgbClr val="B8C5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64224" y="2377440"/>
            <a:ext cx="731520" cy="0"/>
          </a:xfrm>
          <a:prstGeom prst="line">
            <a:avLst/>
          </a:prstGeom>
          <a:noFill/>
          <a:ln w="25400">
            <a:solidFill>
              <a:srgbClr val="B8C5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0" y="2377440"/>
            <a:ext cx="731520" cy="0"/>
          </a:xfrm>
          <a:prstGeom prst="line">
            <a:avLst/>
          </a:prstGeom>
          <a:noFill/>
          <a:ln w="25400">
            <a:solidFill>
              <a:srgbClr val="B8C5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1874520"/>
            <a:ext cx="1600200" cy="100584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Baseline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2313432"/>
            <a:ext cx="1371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FFFFFF"/>
                </a:solidFill>
              </a:rPr>
              <a:t>Start with median and price band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788920" y="1874520"/>
            <a:ext cx="1600200" cy="1005840"/>
          </a:xfrm>
          <a:prstGeom prst="roundRect">
            <a:avLst/>
          </a:prstGeom>
          <a:solidFill>
            <a:srgbClr val="0B6E99">
              <a:alpha val="94000"/>
            </a:srgbClr>
          </a:solidFill>
          <a:ln w="12700">
            <a:solidFill>
              <a:srgbClr val="0B6E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98648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Size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07792" y="2313432"/>
            <a:ext cx="1371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FFFFFF"/>
                </a:solidFill>
              </a:rPr>
              <a:t>Adjust by living area; strongest driver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919472" y="1874520"/>
            <a:ext cx="1600200" cy="1005840"/>
          </a:xfrm>
          <a:prstGeom prst="roundRect">
            <a:avLst/>
          </a:prstGeom>
          <a:solidFill>
            <a:srgbClr val="2BB3C0">
              <a:alpha val="94000"/>
            </a:srgbClr>
          </a:solidFill>
          <a:ln w="12700">
            <a:solidFill>
              <a:srgbClr val="2BB3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Quality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38344" y="2313432"/>
            <a:ext cx="1371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FFFFFF"/>
                </a:solidFill>
              </a:rPr>
              <a:t>Add premium for structure and features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59168" y="1874520"/>
            <a:ext cx="1600200" cy="1005840"/>
          </a:xfrm>
          <a:prstGeom prst="roundRect">
            <a:avLst/>
          </a:prstGeom>
          <a:solidFill>
            <a:srgbClr val="F3C77A">
              <a:alpha val="94000"/>
            </a:srgbClr>
          </a:solidFill>
          <a:ln w="12700">
            <a:solidFill>
              <a:srgbClr val="F3C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68896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Location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2313432"/>
            <a:ext cx="1371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FFFFFF"/>
                </a:solidFill>
              </a:rPr>
              <a:t>Apply ocean / center distance band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189720" y="1874520"/>
            <a:ext cx="1600200" cy="1005840"/>
          </a:xfrm>
          <a:prstGeom prst="roundRect">
            <a:avLst/>
          </a:prstGeom>
          <a:solidFill>
            <a:srgbClr val="D95D39">
              <a:alpha val="94000"/>
            </a:srgbClr>
          </a:solidFill>
          <a:ln w="12700">
            <a:solidFill>
              <a:srgbClr val="D95D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9448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08592" y="2313432"/>
            <a:ext cx="13716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FFFFFF"/>
                </a:solidFill>
              </a:rPr>
              <a:t>Check segment comps and outliers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749808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How to use it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68096" y="4206240"/>
            <a:ext cx="52120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</a:rPr>
              <a:t>For a seller: emphasize the price drivers that are actually rewarded — usable living area, quality, features, and location band.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</a:rPr>
              <a:t>For a buyer/investor: avoid overpaying just because a property is newer; compare it against the correct size-quality-location segment.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83680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</a:rPr>
              <a:t>Important caution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01968" y="4206240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</a:rPr>
              <a:t>The workbook shows correlations and segment patterns. These support pricing decisions, but they do not prove that one variable alone causes price changes.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1737360" y="5705856"/>
            <a:ext cx="8686800" cy="585216"/>
          </a:xfrm>
          <a:prstGeom prst="rect">
            <a:avLst/>
          </a:prstGeom>
          <a:solidFill>
            <a:srgbClr val="EEF6F8"/>
          </a:solidFill>
          <a:ln w="12700">
            <a:solidFill>
              <a:srgbClr val="C8D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01952" y="5833872"/>
            <a:ext cx="83576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The real value of the analysis is reducing guesswork: price each home against the segment it actually belongs to.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actions &amp; Final conclusion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97A89"/>
                </a:solidFill>
              </a:rPr>
              <a:t>Use the findings to make more consistent pricing, listing, and investment decisions.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1106424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5471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5899A"/>
                </a:solidFill>
              </a:rPr>
              <a:t>Source: Miami Housing Analysis workbook, n = 13,932 property sales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448288" y="6519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AAA"/>
                </a:solidFill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2788920" cy="0"/>
          </a:xfrm>
          <a:prstGeom prst="line">
            <a:avLst/>
          </a:prstGeom>
          <a:noFill/>
          <a:ln w="50800">
            <a:solidFill>
              <a:srgbClr val="0B6E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For sellers / agents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2880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B2733"/>
                </a:solidFill>
              </a:rPr>
              <a:t>Lead with living area, quality, and verified special features. Use median and segment comps, not only the overall average.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4544568" y="1600200"/>
            <a:ext cx="2788920" cy="0"/>
          </a:xfrm>
          <a:prstGeom prst="line">
            <a:avLst/>
          </a:prstGeom>
          <a:noFill/>
          <a:ln w="50800">
            <a:solidFill>
              <a:srgbClr val="2BB3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1783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For buyers / investors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44568" y="2212848"/>
            <a:ext cx="2880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B2733"/>
                </a:solidFill>
              </a:rPr>
              <a:t>Screen by size-quality-location segments. Near-ocean and large quality homes deserve a premium; weak age effects should not drive decisions alone.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8311896" y="1600200"/>
            <a:ext cx="2788920" cy="0"/>
          </a:xfrm>
          <a:prstGeom prst="line">
            <a:avLst/>
          </a:prstGeom>
          <a:noFill/>
          <a:ln w="50800">
            <a:solidFill>
              <a:srgbClr val="F3C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11896" y="1783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For analysts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11896" y="2212848"/>
            <a:ext cx="28803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B2733"/>
                </a:solidFill>
              </a:rPr>
              <a:t>Build future models around the strongest drivers: living area, special features, quality, and location bands. Keep luxury homes as a separate segment.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1033272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2976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</a:rPr>
              <a:t>Final conclusion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05840" y="4736592"/>
            <a:ext cx="100126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</a:rPr>
              <a:t>Miami housing prices are best explained by a combination of size, special features, structure quality, and location. The most expensive homes are not just bigger — they combine large living area, high quality, and strong location premiums. A practical pricing decision should therefore compare each property to its correct segment rather than to the full market average.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" y="5943600"/>
            <a:ext cx="1920240" cy="329184"/>
          </a:xfrm>
          <a:prstGeom prst="roundRect">
            <a:avLst/>
          </a:prstGeom>
          <a:solidFill>
            <a:srgbClr val="0B6E99">
              <a:alpha val="92000"/>
            </a:srgbClr>
          </a:solidFill>
          <a:ln w="12700">
            <a:solidFill>
              <a:srgbClr val="0B6E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8992" y="601675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Segment the market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5943600"/>
            <a:ext cx="1828800" cy="329184"/>
          </a:xfrm>
          <a:prstGeom prst="roundRect">
            <a:avLst/>
          </a:prstGeom>
          <a:solidFill>
            <a:srgbClr val="2BB3C0">
              <a:alpha val="92000"/>
            </a:srgbClr>
          </a:solidFill>
          <a:ln w="12700">
            <a:solidFill>
              <a:srgbClr val="2BB3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9272" y="601675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Price by drivers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5943600"/>
            <a:ext cx="1920240" cy="329184"/>
          </a:xfrm>
          <a:prstGeom prst="roundRect">
            <a:avLst/>
          </a:prstGeom>
          <a:solidFill>
            <a:srgbClr val="F3C77A">
              <a:alpha val="92000"/>
            </a:srgbClr>
          </a:solidFill>
          <a:ln w="12700">
            <a:solidFill>
              <a:srgbClr val="F3C7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68112" y="601675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Validate with comps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35240" y="5943600"/>
            <a:ext cx="2240280" cy="329184"/>
          </a:xfrm>
          <a:prstGeom prst="roundRect">
            <a:avLst/>
          </a:prstGeom>
          <a:solidFill>
            <a:srgbClr val="D95D39">
              <a:alpha val="92000"/>
            </a:srgbClr>
          </a:solidFill>
          <a:ln w="12700">
            <a:solidFill>
              <a:srgbClr val="D95D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08392" y="6016752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Separate luxury outliers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998</Words>
  <Application>Microsoft Office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Housing Price Drivers</dc:title>
  <dc:subject>Miami Housing Analysis</dc:subject>
  <dc:creator>OpenAI</dc:creator>
  <cp:lastModifiedBy>Abidul Hasib</cp:lastModifiedBy>
  <cp:revision>3</cp:revision>
  <dcterms:created xsi:type="dcterms:W3CDTF">2026-06-23T23:45:15Z</dcterms:created>
  <dcterms:modified xsi:type="dcterms:W3CDTF">2026-06-24T03:36:01Z</dcterms:modified>
</cp:coreProperties>
</file>